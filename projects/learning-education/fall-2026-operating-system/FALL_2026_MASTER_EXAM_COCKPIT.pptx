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</a:rPr>
              <a:t>FALL 2026 // MASTER ACADEMIC COCKPIT</a:t>
            </a:r>
          </a:p>
          <a:p>
            <a:r>
              <a:rPr sz="3200" b="1">
                <a:solidFill>
                  <a:srgbClr val="F8FAFC"/>
                </a:solidFill>
              </a:rPr>
              <a:t>WEEK 3 CATCH-UP &amp; EXAM ABSORPTION ENGINE</a:t>
            </a:r>
          </a:p>
          <a:p>
            <a:r>
              <a:rPr sz="1600">
                <a:solidFill>
                  <a:srgbClr val="34D399"/>
                </a:solidFill>
              </a:rPr>
              <a:t>Physical Whiteboard Digital Twin • 3-Hour Sunrise Speedrun • Zero Fluff High-Yield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840480"/>
            <a:ext cx="10362895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/>
            <a:r>
              <a:rPr b="1" sz="1200">
                <a:solidFill>
                  <a:srgbClr val="FBBF24"/>
                </a:solidFill>
              </a:rPr>
              <a:t>STUDENT IDENTITY &amp; ACTIVE SENIOR LOAD (1.5 CREDITS / 100% SENIOR 200-LEVEL ARTS)</a:t>
            </a:r>
          </a:p>
          <a:p>
            <a:r>
              <a:rPr b="1" sz="1050">
                <a:solidFill>
                  <a:srgbClr val="38BDF8"/>
                </a:solidFill>
              </a:rPr>
              <a:t>• SY 281 A (DAWB 5-127): </a:t>
            </a:r>
            <a:r>
              <a:rPr sz="1050">
                <a:solidFill>
                  <a:srgbClr val="F8FAFC"/>
                </a:solidFill>
              </a:rPr>
              <a:t>Qualitative Research Methods (Dr. Stephen Svenson) — Thurs Lab (8:30–9:50 AM) | Exercise #2 Due Tomorrow! | 30% Final Exam</a:t>
            </a:r>
          </a:p>
          <a:p>
            <a:r>
              <a:rPr b="1" sz="1050">
                <a:solidFill>
                  <a:srgbClr val="38BDF8"/>
                </a:solidFill>
              </a:rPr>
              <a:t>• FS 209C A (Peters P120): </a:t>
            </a:r>
            <a:r>
              <a:rPr sz="1050">
                <a:solidFill>
                  <a:srgbClr val="F8FAFC"/>
                </a:solidFill>
              </a:rPr>
              <a:t>Food and Identity in Film (Dr. Jing Jing Chang) — Fri (11:30 AM–2:20 PM) | Traditional Stream Active | Test #1 Oct 9 (25%)</a:t>
            </a:r>
          </a:p>
          <a:p>
            <a:r>
              <a:rPr b="1" sz="1050">
                <a:solidFill>
                  <a:srgbClr val="38BDF8"/>
                </a:solidFill>
              </a:rPr>
              <a:t>• KS 205 VA (LH3094): </a:t>
            </a:r>
            <a:r>
              <a:rPr sz="1050">
                <a:solidFill>
                  <a:srgbClr val="F8FAFC"/>
                </a:solidFill>
              </a:rPr>
              <a:t>Cartoons and Comics (Dr. Dru Jeffries) — 100% Async | WA 5 Due Today @ 5pm! | In-Person Exams: Sat Oct 3 (25%) &amp; Fri Oct 30 (30%)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8BDF8"/>
                </a:solidFill>
              </a:rPr>
              <a:t>ACTION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THE 4:00 AM – 7:00 AM SUNRISE CATCH-UP SPEEDRUN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BLOCK 1 (4:00–4:30 AM): SY 281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Whiteboard Finish: </a:t>
            </a:r>
            <a:r>
              <a:rPr sz="950">
                <a:solidFill>
                  <a:srgbClr val="94A3B8"/>
                </a:solidFill>
              </a:rPr>
              <a:t>Copy 5 lines of 1.3 (Kamloops Memorial) directly onto your physical board.</a:t>
            </a:r>
          </a:p>
          <a:p>
            <a:r>
              <a:rPr b="1" sz="1000">
                <a:solidFill>
                  <a:srgbClr val="F8FAFC"/>
                </a:solidFill>
              </a:rPr>
              <a:t>• Add Right Side: </a:t>
            </a:r>
            <a:r>
              <a:rPr sz="950">
                <a:solidFill>
                  <a:srgbClr val="94A3B8"/>
                </a:solidFill>
              </a:rPr>
              <a:t>Write 1.4 (T-A-P-S), 1.5 (D-U-R-C), and 1.6 (3 Paradigms) on the right side.</a:t>
            </a:r>
          </a:p>
          <a:p>
            <a:r>
              <a:rPr b="1" sz="1000">
                <a:solidFill>
                  <a:srgbClr val="F8FAFC"/>
                </a:solidFill>
              </a:rPr>
              <a:t>• Lock-In Result: </a:t>
            </a:r>
            <a:r>
              <a:rPr sz="950">
                <a:solidFill>
                  <a:srgbClr val="94A3B8"/>
                </a:solidFill>
              </a:rPr>
              <a:t>SY 281 is 100% caught up to the current second. Fully prepared for Thursday's lab!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BBF24"/>
                </a:solidFill>
              </a:rPr>
              <a:t>BLOCK 2 (4:30–5:45 AM): KS 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Work Lesson 2 Module: </a:t>
            </a:r>
            <a:r>
              <a:rPr sz="950">
                <a:solidFill>
                  <a:srgbClr val="94A3B8"/>
                </a:solidFill>
              </a:rPr>
              <a:t>Open MyLS interactive lesson for Lesson 2 (Newspaper Strips).</a:t>
            </a:r>
          </a:p>
          <a:p>
            <a:r>
              <a:rPr b="1" sz="1000">
                <a:solidFill>
                  <a:srgbClr val="F8FAFC"/>
                </a:solidFill>
              </a:rPr>
              <a:t>• Submit WA 5: </a:t>
            </a:r>
            <a:r>
              <a:rPr sz="950">
                <a:solidFill>
                  <a:srgbClr val="94A3B8"/>
                </a:solidFill>
              </a:rPr>
              <a:t>Complete Weekly Activity 5 and submit it. Banks your activity 11 hours ahead of deadline!</a:t>
            </a:r>
          </a:p>
          <a:p>
            <a:r>
              <a:rPr b="1" sz="1000">
                <a:solidFill>
                  <a:srgbClr val="F8FAFC"/>
                </a:solidFill>
              </a:rPr>
              <a:t>• Skim McCloud Slides: </a:t>
            </a:r>
            <a:r>
              <a:rPr sz="950">
                <a:solidFill>
                  <a:srgbClr val="94A3B8"/>
                </a:solidFill>
              </a:rPr>
              <a:t>Review Slides 15–17 in this deck for McCloud transitions &amp; Oct 3 exam blueprint.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</a:rPr>
              <a:t>BLOCK 3 (5:45–6:45 AM): FS 209C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Review Tampopo: </a:t>
            </a:r>
            <a:r>
              <a:rPr sz="950">
                <a:solidFill>
                  <a:srgbClr val="94A3B8"/>
                </a:solidFill>
              </a:rPr>
              <a:t>Memorize the 5 vignettes (Shokunin, Erotic egg, Junior French, Spaghetti, Mother).</a:t>
            </a:r>
          </a:p>
          <a:p>
            <a:r>
              <a:rPr b="1" sz="1000">
                <a:solidFill>
                  <a:srgbClr val="F8FAFC"/>
                </a:solidFill>
              </a:rPr>
              <a:t>• Review Minari: </a:t>
            </a:r>
            <a:r>
              <a:rPr sz="950">
                <a:solidFill>
                  <a:srgbClr val="94A3B8"/>
                </a:solidFill>
              </a:rPr>
              <a:t>Absorb the 3 levels of the water parsley metaphor and Columbian Exchange.</a:t>
            </a:r>
          </a:p>
          <a:p>
            <a:r>
              <a:rPr b="1" sz="1000">
                <a:solidFill>
                  <a:srgbClr val="F8FAFC"/>
                </a:solidFill>
              </a:rPr>
              <a:t>• Lock-In Result: </a:t>
            </a:r>
            <a:r>
              <a:rPr sz="950">
                <a:solidFill>
                  <a:srgbClr val="94A3B8"/>
                </a:solidFill>
              </a:rPr>
              <a:t>FS 209C is 100% primed for Friday's screening in P120. Zero homework owed!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Execute Block 1 right now! You are less than 3 hours away from 100% semester completion!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4D399"/>
                </a:solidFill>
              </a:rPr>
              <a:t>WHITEBOARD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YOUR PHYSICAL WHITEBOARD: ALL-IN-ONE MASTER 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LEFT HALF: WHAT YOU WROTE + 1.3 FINISH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34D399"/>
                </a:solidFill>
              </a:rPr>
              <a:t>1.1 The Big 3: </a:t>
            </a:r>
            <a:r>
              <a:rPr sz="850">
                <a:solidFill>
                  <a:srgbClr val="F8FAFC"/>
                </a:solidFill>
              </a:rPr>
              <a:t>Ontology (Reality: Positivist=Single vs Qual=Multiple) | Epistemology (Knower: Positivist=Detached vs Qual=Relational) | Methodology (Strategy: Positivist=Deductive vs Qual=Inductive).</a:t>
            </a:r>
          </a:p>
          <a:p>
            <a:r>
              <a:rPr b="1" sz="950">
                <a:solidFill>
                  <a:srgbClr val="34D399"/>
                </a:solidFill>
              </a:rPr>
              <a:t>1.2 The 4 Epistemicides: </a:t>
            </a:r>
            <a:r>
              <a:rPr sz="850">
                <a:solidFill>
                  <a:srgbClr val="F8FAFC"/>
                </a:solidFill>
              </a:rPr>
              <a:t>A-A-A-W: Al-Andalus (1492), Americas (1500s), Africa (1500s-1800s), Witches (1500s-1600s). Link: Ego Conquiro ('I conquer') preceded Ego Cogito ('I think').</a:t>
            </a:r>
          </a:p>
          <a:p>
            <a:r>
              <a:rPr b="1" sz="950">
                <a:solidFill>
                  <a:srgbClr val="34D399"/>
                </a:solidFill>
              </a:rPr>
              <a:t>1.3 Kamloops Memorial (1910): </a:t>
            </a:r>
            <a:r>
              <a:rPr sz="850">
                <a:solidFill>
                  <a:srgbClr val="F8FAFC"/>
                </a:solidFill>
              </a:rPr>
              <a:t>• 3 Chiefs: Petit Louis, Tetlenitsa, Chilahitsa + James Teit (scribe).
• yiri7 re stsq'ey's-kucw: Ancient oral law decreed by Sk'el'ep (Coyote).
• Host -&gt; Guest Flip: Welcomed guests unilaterally declared Crown dominance.
• Sec. 141 Indian Act (1927): Criminalized hiring lawyers for land claims.
• Wolfe: Settler colonialism is a structure, not an event.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BBF24"/>
                </a:solidFill>
              </a:rPr>
              <a:t>RIGHT HALF: COPY THIS ONTO THE RIGHT 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38BDF8"/>
                </a:solidFill>
              </a:rPr>
              <a:t>1.4 Ways of Knowing (Peirce: T-A-P-S): </a:t>
            </a:r>
            <a:r>
              <a:rPr sz="850">
                <a:solidFill>
                  <a:srgbClr val="F8FAFC"/>
                </a:solidFill>
              </a:rPr>
              <a:t>• Tenacity: Habit / 'always done that way'.
• Authority: Institution / state decree.
• A Priori: Intuitive reason / self-evident.
• Science: Empirical / self-correcting testing.</a:t>
            </a:r>
          </a:p>
          <a:p>
            <a:r>
              <a:rPr b="1" sz="950">
                <a:solidFill>
                  <a:srgbClr val="38BDF8"/>
                </a:solidFill>
              </a:rPr>
              <a:t>1.5 Sociological Motifs (Berger: D-U-R-C): </a:t>
            </a:r>
            <a:r>
              <a:rPr sz="850">
                <a:solidFill>
                  <a:srgbClr val="F8FAFC"/>
                </a:solidFill>
              </a:rPr>
              <a:t>• Debunking: Unmask institutional facades.
• Unrespectability: Look from bottom-up margins.
• Relativization: Truths are historically contingent.
• Cosmopolitanism: Openness to diverse lifeworlds.</a:t>
            </a:r>
          </a:p>
          <a:p>
            <a:r>
              <a:rPr b="1" sz="950">
                <a:solidFill>
                  <a:srgbClr val="38BDF8"/>
                </a:solidFill>
              </a:rPr>
              <a:t>1.6 The 3 Paradigms (Merrigan — LAB FOCUS!): </a:t>
            </a:r>
            <a:r>
              <a:rPr sz="850">
                <a:solidFill>
                  <a:srgbClr val="F8FAFC"/>
                </a:solidFill>
              </a:rPr>
              <a:t>• Discovery: 1 objective reality | Prediction &amp; Causal laws | Detached observer.
• Interpretive: Multiple realities | Verstehen (Meaning) | Reflexive co-creator.
• Critical: Shaped by power/hegemony | Emancipation &amp; Justice | Value-laden activist.
• Lifeworld (Schutz): Lebenswelt is everyday taken-for-granted ground of science!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ALL-IN-ONE VICTORY: Copy the right box onto the right half of your board to hold all Weeks 1-3 on a single whiteboard!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F43F5E"/>
                </a:solidFill>
              </a:rPr>
              <a:t>STANDINGS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ACADEMIC INTEGRITY &amp; COURSE STANDINGS (FACTS VS FEAR)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COURSE-BY-COURSE GRADE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SY 281 A (Svenson): </a:t>
            </a:r>
            <a:r>
              <a:rPr sz="950">
                <a:solidFill>
                  <a:srgbClr val="94A3B8"/>
                </a:solidFill>
              </a:rPr>
              <a:t>Exercise #1 (Epistemicide) is SUBMITTED! Quiz #1 '0' is automated system placeholder for open-ended text pending manual grading. Best 2 of 3 quizzes count!</a:t>
            </a:r>
          </a:p>
          <a:p>
            <a:r>
              <a:rPr b="1" sz="1000">
                <a:solidFill>
                  <a:srgbClr val="F8FAFC"/>
                </a:solidFill>
              </a:rPr>
              <a:t>• FS 209C A (Chang): </a:t>
            </a:r>
            <a:r>
              <a:rPr sz="950">
                <a:solidFill>
                  <a:srgbClr val="94A3B8"/>
                </a:solidFill>
              </a:rPr>
              <a:t>Traditional Stream active. You missed Friday's screening due to illness, but ZERO homework was due. You have lost 0.00% of your grade! First test is Oct 9.</a:t>
            </a:r>
          </a:p>
          <a:p>
            <a:r>
              <a:rPr b="1" sz="1000">
                <a:solidFill>
                  <a:srgbClr val="F8FAFC"/>
                </a:solidFill>
              </a:rPr>
              <a:t>• KS 205 VA (Jeffries): </a:t>
            </a:r>
            <a:r>
              <a:rPr sz="950">
                <a:solidFill>
                  <a:srgbClr val="94A3B8"/>
                </a:solidFill>
              </a:rPr>
              <a:t>Enrolled late on Sept 14. Lesson 1 WAs sit under late-add accommodation policy. WA 5 is due today @ 5pm. Zero academic integrity issues.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3F5E"/>
                </a:solidFill>
              </a:rPr>
              <a:t>THE DOUBLE-XF INTEGRITY FIREWALL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Zero Tolerance Rule: </a:t>
            </a:r>
            <a:r>
              <a:rPr sz="950">
                <a:solidFill>
                  <a:srgbClr val="94A3B8"/>
                </a:solidFill>
              </a:rPr>
              <a:t>Under Laurier Senate regulations, a third academic integrity sanction results in permanent expulsion. Your threshold for error is 0.00%.</a:t>
            </a:r>
          </a:p>
          <a:p>
            <a:r>
              <a:rPr b="1" sz="1000">
                <a:solidFill>
                  <a:srgbClr val="F8FAFC"/>
                </a:solidFill>
              </a:rPr>
              <a:t>• Offline Tutor Mandate: </a:t>
            </a:r>
            <a:r>
              <a:rPr sz="950">
                <a:solidFill>
                  <a:srgbClr val="94A3B8"/>
                </a:solidFill>
              </a:rPr>
              <a:t>AI tools are NEVER permitted to generate text for direct submission into MyLS dropboxes or quizzes. All submissions must be 100% human-typed.</a:t>
            </a:r>
          </a:p>
          <a:p>
            <a:r>
              <a:rPr b="1" sz="1000">
                <a:solidFill>
                  <a:srgbClr val="F8FAFC"/>
                </a:solidFill>
              </a:rPr>
              <a:t>• Current GPA Reality: </a:t>
            </a:r>
            <a:r>
              <a:rPr sz="950">
                <a:solidFill>
                  <a:srgbClr val="94A3B8"/>
                </a:solidFill>
              </a:rPr>
              <a:t>~4.17 / 12.00 cumulative GPA. By banking solid in-person test grades and exercises, you permanently clear academic probation without risking integrity.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Confidence Check: You have NOT failed anything. Zero integrity flags. Everything is completely on track.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FBBF24"/>
                </a:solidFill>
              </a:rPr>
              <a:t>FINANCIAL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CEF RESP STATUS &amp; EAP WITHDRAWAL REALITY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WHY RESP HASN'T RESPONDED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Submitted Sept 9: </a:t>
            </a:r>
            <a:r>
              <a:rPr sz="950">
                <a:solidFill>
                  <a:srgbClr val="94A3B8"/>
                </a:solidFill>
              </a:rPr>
              <a:t>Your Beneficiary Application &amp; Laurier VOE were prepared and sent on Wednesday, September 9, 2026.</a:t>
            </a:r>
          </a:p>
          <a:p>
            <a:r>
              <a:rPr b="1" sz="1000">
                <a:solidFill>
                  <a:srgbClr val="F8FAFC"/>
                </a:solidFill>
              </a:rPr>
              <a:t>• Only 9 Business Days: </a:t>
            </a:r>
            <a:r>
              <a:rPr sz="950">
                <a:solidFill>
                  <a:srgbClr val="94A3B8"/>
                </a:solidFill>
              </a:rPr>
              <a:t>Today is only 9 business days since submission. September is the single most congested month of the year for CEFI and Canadian RESP providers.</a:t>
            </a:r>
          </a:p>
          <a:p>
            <a:r>
              <a:rPr b="1" sz="1000">
                <a:solidFill>
                  <a:srgbClr val="F8FAFC"/>
                </a:solidFill>
              </a:rPr>
              <a:t>• Standard 10–15 Day Turnaround: </a:t>
            </a:r>
            <a:r>
              <a:rPr sz="950">
                <a:solidFill>
                  <a:srgbClr val="94A3B8"/>
                </a:solidFill>
              </a:rPr>
              <a:t>During peak fall volume, CEFI standard processing takes 2 to 3 full business weeks to verify university enrolment.</a:t>
            </a:r>
          </a:p>
          <a:p>
            <a:r>
              <a:rPr b="1" sz="1000">
                <a:solidFill>
                  <a:srgbClr val="F8FAFC"/>
                </a:solidFill>
              </a:rPr>
              <a:t>• Funds Legally Protected: </a:t>
            </a:r>
            <a:r>
              <a:rPr sz="950">
                <a:solidFill>
                  <a:srgbClr val="94A3B8"/>
                </a:solidFill>
              </a:rPr>
              <a:t>An RESP is a legally regulated trust. Your EAP funds and grants do NOT disappear. You are officially registered at WLU and legally entitled to the payout.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ACTION PROTOCOL FOR 9:00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Phone Client Services: </a:t>
            </a:r>
            <a:r>
              <a:rPr sz="950">
                <a:solidFill>
                  <a:srgbClr val="94A3B8"/>
                </a:solidFill>
              </a:rPr>
              <a:t>Call 1-800-246-1201 (or 905-896-2400) right when phones open at 9:00 AM.</a:t>
            </a:r>
          </a:p>
          <a:p>
            <a:r>
              <a:rPr b="1" sz="1000">
                <a:solidFill>
                  <a:srgbClr val="F8FAFC"/>
                </a:solidFill>
              </a:rPr>
              <a:t>• Email Client Support: </a:t>
            </a:r>
            <a:r>
              <a:rPr sz="950">
                <a:solidFill>
                  <a:srgbClr val="94A3B8"/>
                </a:solidFill>
              </a:rPr>
              <a:t>Send quick email to service@cefi.ca referencing Contract Number and WLU Student ID (210729170).</a:t>
            </a:r>
          </a:p>
          <a:p>
            <a:r>
              <a:rPr b="1" sz="1000">
                <a:solidFill>
                  <a:srgbClr val="F8FAFC"/>
                </a:solidFill>
              </a:rPr>
              <a:t>• What to Ask: </a:t>
            </a:r>
            <a:r>
              <a:rPr sz="950">
                <a:solidFill>
                  <a:srgbClr val="94A3B8"/>
                </a:solidFill>
              </a:rPr>
              <a:t>'Hi, I'm calling to confirm receipt of my Beneficiary Application &amp; official Laurier VOE submitted on Sept 9, and to check the scheduled release date for my EAP.'</a:t>
            </a:r>
          </a:p>
          <a:p>
            <a:r>
              <a:rPr b="1" sz="1000">
                <a:solidFill>
                  <a:srgbClr val="F8FAFC"/>
                </a:solidFill>
              </a:rPr>
              <a:t>• Dual US/CA Citizen Benefit: </a:t>
            </a:r>
            <a:r>
              <a:rPr sz="950">
                <a:solidFill>
                  <a:srgbClr val="94A3B8"/>
                </a:solidFill>
              </a:rPr>
              <a:t>Your status as dual citizen does not impede Canadian RESP EAP distribution to eligible university students.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Reminder: Call CEFI at 9:00 AM (1-800-246-1201). Your tuition money is completely safe!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8BDF8"/>
                </a:solidFill>
              </a:rPr>
              <a:t>SY 281 |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THE EPISTEMOLOGICAL TRINITY (FOUNDATIONS)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24990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2224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1. ONTOLOGY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224735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50" i="1">
                <a:solidFill>
                  <a:srgbClr val="94A3B8"/>
                </a:solidFill>
              </a:rPr>
              <a:t>What is the nature of reality?
</a:t>
            </a:r>
          </a:p>
          <a:p>
            <a:r>
              <a:rPr sz="900">
                <a:solidFill>
                  <a:srgbClr val="F8FAFC"/>
                </a:solidFill>
              </a:rPr>
              <a:t>• Positivist: Single, objective reality existing independently of human observers.</a:t>
            </a:r>
          </a:p>
          <a:p>
            <a:r>
              <a:rPr sz="900">
                <a:solidFill>
                  <a:srgbClr val="F8FAFC"/>
                </a:solidFill>
              </a:rPr>
              <a:t>• Qualitative: Multiple, socially constructed realities created through human interaction, symbols, and culture.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005840"/>
            <a:ext cx="24990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097280"/>
            <a:ext cx="2224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2. EPISTEMOLOGY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508760"/>
            <a:ext cx="2224735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50" i="1">
                <a:solidFill>
                  <a:srgbClr val="94A3B8"/>
                </a:solidFill>
              </a:rPr>
              <a:t>How do we know reality? What is valid knowledge?
</a:t>
            </a:r>
          </a:p>
          <a:p>
            <a:r>
              <a:rPr sz="900">
                <a:solidFill>
                  <a:srgbClr val="F8FAFC"/>
                </a:solidFill>
              </a:rPr>
              <a:t>• Positivist: Knower and known are separate. Detached 'eye-of-God' spectator.</a:t>
            </a:r>
          </a:p>
          <a:p>
            <a:r>
              <a:rPr sz="900">
                <a:solidFill>
                  <a:srgbClr val="F8FAFC"/>
                </a:solidFill>
              </a:rPr>
              <a:t>• Qualitative: Knower and known are relational, situated, embodied, and reflexive.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24990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097280"/>
            <a:ext cx="2224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BBF24"/>
                </a:solidFill>
              </a:rPr>
              <a:t>3. 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2224735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50" i="1">
                <a:solidFill>
                  <a:srgbClr val="94A3B8"/>
                </a:solidFill>
              </a:rPr>
              <a:t>How do we systematically study reality?
</a:t>
            </a:r>
          </a:p>
          <a:p>
            <a:r>
              <a:rPr sz="900">
                <a:solidFill>
                  <a:srgbClr val="F8FAFC"/>
                </a:solidFill>
              </a:rPr>
              <a:t>• Positivist: Deductive hypothesis testing, numerical variables, statistical models.</a:t>
            </a:r>
          </a:p>
          <a:p>
            <a:r>
              <a:rPr sz="900">
                <a:solidFill>
                  <a:srgbClr val="F8FAFC"/>
                </a:solidFill>
              </a:rPr>
              <a:t>• Qualitative: Inductive, emergent design, in-depth fieldwork, grounded theory.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005840"/>
            <a:ext cx="24990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097280"/>
            <a:ext cx="2224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</a:rPr>
              <a:t>4. METHODS (TOOLS)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508760"/>
            <a:ext cx="2224735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50" i="1">
                <a:solidFill>
                  <a:srgbClr val="94A3B8"/>
                </a:solidFill>
              </a:rPr>
              <a:t>What instruments do we use?
</a:t>
            </a:r>
          </a:p>
          <a:p>
            <a:r>
              <a:rPr sz="900">
                <a:solidFill>
                  <a:srgbClr val="F8FAFC"/>
                </a:solidFill>
              </a:rPr>
              <a:t>• Positivist: Closed-ended surveys, randomized experiments.</a:t>
            </a:r>
          </a:p>
          <a:p>
            <a:r>
              <a:rPr sz="900">
                <a:solidFill>
                  <a:srgbClr val="F8FAFC"/>
                </a:solidFill>
              </a:rPr>
              <a:t>• Qualitative: Semi-structured interviews, participant observation, coding, discourse analysis.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Sketch: Ontology (Reality) -&gt; Epistemology (Knowledge) -&gt; Methodology (Strategy) -&gt; Methods (Tools).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F43F5E"/>
                </a:solidFill>
              </a:rPr>
              <a:t>SY 281 |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GROSFOGUEL, EPISTEMICIDE &amp; THE CARTESIAN SHIFT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3F5E"/>
                </a:solidFill>
              </a:rPr>
              <a:t>THE CARTESIAN SHIFT: CONQUIRO -&gt; COGITO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50">
                <a:solidFill>
                  <a:srgbClr val="F8FAFC"/>
                </a:solidFill>
              </a:rPr>
              <a:t>• The Core Shift: </a:t>
            </a:r>
            <a:r>
              <a:rPr sz="1000">
                <a:solidFill>
                  <a:srgbClr val="94A3B8"/>
                </a:solidFill>
              </a:rPr>
              <a:t>Ego Conquiro ('I conquer, therefore I am') preceded and enabled Ego Cogito ('I think, therefore I am').</a:t>
            </a:r>
          </a:p>
          <a:p>
            <a:r>
              <a:rPr b="1" sz="1050">
                <a:solidFill>
                  <a:srgbClr val="F8FAFC"/>
                </a:solidFill>
              </a:rPr>
              <a:t>• Descartes' Concealment: </a:t>
            </a:r>
            <a:r>
              <a:rPr sz="1000">
                <a:solidFill>
                  <a:srgbClr val="94A3B8"/>
                </a:solidFill>
              </a:rPr>
              <a:t>René Descartes pretended a lone European thinker in an armchair could produce universal truth, hiding 150 years of imperial conquests, slavery, and colonial violence.</a:t>
            </a:r>
          </a:p>
          <a:p>
            <a:r>
              <a:rPr b="1" sz="1050">
                <a:solidFill>
                  <a:srgbClr val="F8FAFC"/>
                </a:solidFill>
              </a:rPr>
              <a:t>• Point-Zero Hubris: </a:t>
            </a:r>
            <a:r>
              <a:rPr sz="1000">
                <a:solidFill>
                  <a:srgbClr val="94A3B8"/>
                </a:solidFill>
              </a:rPr>
              <a:t>The illusion of a disembodied 'God-Eye' observer who claims to speak neutrally for all humanity while dismissing non-Western knowledges as emotional or primitive.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BBF24"/>
                </a:solidFill>
              </a:rPr>
              <a:t>MNEMONIC: THE 4 EPISTEMICIDES ('A-A-A-W')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A — Al-Andalus (1492): </a:t>
            </a:r>
            <a:r>
              <a:rPr sz="950">
                <a:solidFill>
                  <a:srgbClr val="94A3B8"/>
                </a:solidFill>
              </a:rPr>
              <a:t>Expulsion of Muslims and Jews during Spanish Reconquista; mass burning of massive Arabic/Hebrew scientific and medical libraries.</a:t>
            </a:r>
          </a:p>
          <a:p>
            <a:r>
              <a:rPr b="1" sz="1000">
                <a:solidFill>
                  <a:srgbClr val="F8FAFC"/>
                </a:solidFill>
              </a:rPr>
              <a:t>• A — Americas / Abya Yala (1500s): </a:t>
            </a:r>
            <a:r>
              <a:rPr sz="950">
                <a:solidFill>
                  <a:srgbClr val="94A3B8"/>
                </a:solidFill>
              </a:rPr>
              <a:t>Genocide of Indigenous peoples and deliberate destruction of sacred Mayan codices, Aztec records, and Andean quipus.</a:t>
            </a:r>
          </a:p>
          <a:p>
            <a:r>
              <a:rPr b="1" sz="1000">
                <a:solidFill>
                  <a:srgbClr val="F8FAFC"/>
                </a:solidFill>
              </a:rPr>
              <a:t>• A — African Enslavement (1500s-1800s): </a:t>
            </a:r>
            <a:r>
              <a:rPr sz="950">
                <a:solidFill>
                  <a:srgbClr val="94A3B8"/>
                </a:solidFill>
              </a:rPr>
              <a:t>Transatlantic slave trade; severing millions from their ancestral metallurgy, astronomy, and cosmologies by reducing humans to chattel.</a:t>
            </a:r>
          </a:p>
          <a:p>
            <a:r>
              <a:rPr b="1" sz="1000">
                <a:solidFill>
                  <a:srgbClr val="F8FAFC"/>
                </a:solidFill>
              </a:rPr>
              <a:t>• W — European Witch Hunts (1500s-1600s): </a:t>
            </a:r>
            <a:r>
              <a:rPr sz="950">
                <a:solidFill>
                  <a:srgbClr val="94A3B8"/>
                </a:solidFill>
              </a:rPr>
              <a:t>Torturing and burning female herbalists, midwives, and healers to eliminate autonomous women-centered medicine and enforce patriarchal science.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Write: 'Ego Conquiro -&gt; Ego Cogito'. Below it write: A-A-A-W (Al-Andalus, Americas, Africa, Witches).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8BDF8"/>
                </a:solidFill>
              </a:rPr>
              <a:t>SY 281 |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THE MEMORIAL TO SIR WILFRID LAURIER (KAMLOOPS 1910)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1. THE HISTORICAL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Date &amp; Location: </a:t>
            </a:r>
            <a:r>
              <a:rPr sz="950">
                <a:solidFill>
                  <a:srgbClr val="94A3B8"/>
                </a:solidFill>
              </a:rPr>
              <a:t>August 25, 1910 in Kamloops, BC, delivered to Prime Minister Sir Wilfrid Laurier during campaign.</a:t>
            </a:r>
          </a:p>
          <a:p>
            <a:r>
              <a:rPr b="1" sz="1000">
                <a:solidFill>
                  <a:srgbClr val="F8FAFC"/>
                </a:solidFill>
              </a:rPr>
              <a:t>• The Allied Chiefs: </a:t>
            </a:r>
            <a:r>
              <a:rPr sz="950">
                <a:solidFill>
                  <a:srgbClr val="94A3B8"/>
                </a:solidFill>
              </a:rPr>
              <a:t>Chief Petit Louis (Secwépemc), Chief John Tetlenitsa (Nlaka'pamux), Chief John Chilahitsa (Syilx).</a:t>
            </a:r>
          </a:p>
          <a:p>
            <a:r>
              <a:rPr b="1" sz="1000">
                <a:solidFill>
                  <a:srgbClr val="F8FAFC"/>
                </a:solidFill>
              </a:rPr>
              <a:t>• Allies &amp; Scribes: </a:t>
            </a:r>
            <a:r>
              <a:rPr sz="950">
                <a:solidFill>
                  <a:srgbClr val="94A3B8"/>
                </a:solidFill>
              </a:rPr>
              <a:t>Transcribed by Scottish ethnologist James Teit; translated with Catholic priest Father LeJeune.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2. ANCIENT LAW &amp; INVERSION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yiri7 re stsq'ey's-kucw: </a:t>
            </a:r>
            <a:r>
              <a:rPr sz="950">
                <a:solidFill>
                  <a:srgbClr val="94A3B8"/>
                </a:solidFill>
              </a:rPr>
              <a:t>Ancient unwritten oral laws establishing inherent land title and governance, decreed by Sk'el'ep (Coyote) 5,000+ years ago.</a:t>
            </a:r>
          </a:p>
          <a:p>
            <a:r>
              <a:rPr b="1" sz="1000">
                <a:solidFill>
                  <a:srgbClr val="F8FAFC"/>
                </a:solidFill>
              </a:rPr>
              <a:t>• Host-Guest Relationship: </a:t>
            </a:r>
            <a:r>
              <a:rPr sz="950">
                <a:solidFill>
                  <a:srgbClr val="94A3B8"/>
                </a:solidFill>
              </a:rPr>
              <a:t>Indigenous nations welcomed Europeans as GUESTS under reciprocal trade treaties.</a:t>
            </a:r>
          </a:p>
          <a:p>
            <a:r>
              <a:rPr b="1" sz="1000">
                <a:solidFill>
                  <a:srgbClr val="F8FAFC"/>
                </a:solidFill>
              </a:rPr>
              <a:t>• The Inversion: </a:t>
            </a:r>
            <a:r>
              <a:rPr sz="950">
                <a:solidFill>
                  <a:srgbClr val="94A3B8"/>
                </a:solidFill>
              </a:rPr>
              <a:t>Settlers unilaterally claimed to be 'masters', imposed Crown sovereignty, and locked sovereign hosts onto tiny reserves.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3F5E"/>
                </a:solidFill>
              </a:rPr>
              <a:t>3. CANADIAN MECHANISMS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Oral Law Dismissed: </a:t>
            </a:r>
            <a:r>
              <a:rPr sz="950">
                <a:solidFill>
                  <a:srgbClr val="94A3B8"/>
                </a:solidFill>
              </a:rPr>
              <a:t>Canadian courts refused to recognize oral law, dismissing it as primitive myth.</a:t>
            </a:r>
          </a:p>
          <a:p>
            <a:r>
              <a:rPr b="1" sz="1000">
                <a:solidFill>
                  <a:srgbClr val="F8FAFC"/>
                </a:solidFill>
              </a:rPr>
              <a:t>• Section 141 Indian Act (1927): </a:t>
            </a:r>
            <a:r>
              <a:rPr sz="950">
                <a:solidFill>
                  <a:srgbClr val="94A3B8"/>
                </a:solidFill>
              </a:rPr>
              <a:t>Criminalized hiring lawyers or raising funds to pursue land claims.</a:t>
            </a:r>
          </a:p>
          <a:p>
            <a:r>
              <a:rPr b="1" sz="1000">
                <a:solidFill>
                  <a:srgbClr val="F8FAFC"/>
                </a:solidFill>
              </a:rPr>
              <a:t>• Patrick Wolfe's Dictum: </a:t>
            </a:r>
            <a:r>
              <a:rPr sz="950">
                <a:solidFill>
                  <a:srgbClr val="94A3B8"/>
                </a:solidFill>
              </a:rPr>
              <a:t>'Settler colonialism is a structure, not an event', driven by a logic of elimination.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Whiteboard Test: Name the 3 Chiefs, James Teit, Section 141 (lawyer ban), and explain the Host -&gt; Guest betrayal!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8BDF8"/>
                </a:solidFill>
              </a:rPr>
              <a:t>SY 281 |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WAYS OF KNOWING (PEIRCE) &amp; 4 MOTIFS (BERGER)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PEIRCE: 4 WAYS OF KNOWING (T-A-P-S)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50">
                <a:solidFill>
                  <a:srgbClr val="F8FAFC"/>
                </a:solidFill>
              </a:rPr>
              <a:t>• T — Tenacity: </a:t>
            </a:r>
            <a:r>
              <a:rPr sz="1000">
                <a:solidFill>
                  <a:srgbClr val="94A3B8"/>
                </a:solidFill>
              </a:rPr>
              <a:t>Clinging stubbornly to a belief simply because 'it has always been that way'. Immune to evidence.</a:t>
            </a:r>
          </a:p>
          <a:p>
            <a:r>
              <a:rPr b="1" sz="1050">
                <a:solidFill>
                  <a:srgbClr val="F8FAFC"/>
                </a:solidFill>
              </a:rPr>
              <a:t>• A — Authority: </a:t>
            </a:r>
            <a:r>
              <a:rPr sz="1000">
                <a:solidFill>
                  <a:srgbClr val="94A3B8"/>
                </a:solidFill>
              </a:rPr>
              <a:t>Accepting truth because an authority figure (priest, state, parent, institution) decrees it.</a:t>
            </a:r>
          </a:p>
          <a:p>
            <a:r>
              <a:rPr b="1" sz="1050">
                <a:solidFill>
                  <a:srgbClr val="F8FAFC"/>
                </a:solidFill>
              </a:rPr>
              <a:t>• P — A Priori (Intuition): </a:t>
            </a:r>
            <a:r>
              <a:rPr sz="1000">
                <a:solidFill>
                  <a:srgbClr val="94A3B8"/>
                </a:solidFill>
              </a:rPr>
              <a:t>Believing propositions that agree with 'pure reason' or seem intuitively obvious without empirical testing.</a:t>
            </a:r>
          </a:p>
          <a:p>
            <a:r>
              <a:rPr b="1" sz="1050">
                <a:solidFill>
                  <a:srgbClr val="F8FAFC"/>
                </a:solidFill>
              </a:rPr>
              <a:t>• S — Method of Science: </a:t>
            </a:r>
            <a:r>
              <a:rPr sz="1000">
                <a:solidFill>
                  <a:srgbClr val="94A3B8"/>
                </a:solidFill>
              </a:rPr>
              <a:t>Systematic, empirical, and self-correcting investigation where hypotheses are tested against observable reality.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BERGER: 4 SOCIOLOGICAL MOTIFS (D-U-R-C)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50">
                <a:solidFill>
                  <a:srgbClr val="F8FAFC"/>
                </a:solidFill>
              </a:rPr>
              <a:t>• D — Debunking: </a:t>
            </a:r>
            <a:r>
              <a:rPr sz="1000">
                <a:solidFill>
                  <a:srgbClr val="94A3B8"/>
                </a:solidFill>
              </a:rPr>
              <a:t>Unmasking official facades and accepted institutional claims ('things are not what they seem').</a:t>
            </a:r>
          </a:p>
          <a:p>
            <a:r>
              <a:rPr b="1" sz="1050">
                <a:solidFill>
                  <a:srgbClr val="F8FAFC"/>
                </a:solidFill>
              </a:rPr>
              <a:t>• U — Unrespectability: </a:t>
            </a:r>
            <a:r>
              <a:rPr sz="1000">
                <a:solidFill>
                  <a:srgbClr val="94A3B8"/>
                </a:solidFill>
              </a:rPr>
              <a:t>Looking at social reality from the bottom up—examining marginalized and informal lifeworlds, not just elites.</a:t>
            </a:r>
          </a:p>
          <a:p>
            <a:r>
              <a:rPr b="1" sz="1050">
                <a:solidFill>
                  <a:srgbClr val="F8FAFC"/>
                </a:solidFill>
              </a:rPr>
              <a:t>• R — Relativization: </a:t>
            </a:r>
            <a:r>
              <a:rPr sz="1000">
                <a:solidFill>
                  <a:srgbClr val="94A3B8"/>
                </a:solidFill>
              </a:rPr>
              <a:t>Recognizing that truths, values, and institutions are historically and culturally contingent, not eternal facts.</a:t>
            </a:r>
          </a:p>
          <a:p>
            <a:r>
              <a:rPr b="1" sz="1050">
                <a:solidFill>
                  <a:srgbClr val="F8FAFC"/>
                </a:solidFill>
              </a:rPr>
              <a:t>• C — Cosmopolitanism: </a:t>
            </a:r>
            <a:r>
              <a:rPr sz="1000">
                <a:solidFill>
                  <a:srgbClr val="94A3B8"/>
                </a:solidFill>
              </a:rPr>
              <a:t>Intellectual openness to diverse human lifeworlds and cultural worlds without provincial narrowness.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Write down T-A-P-S (Tenacity, Authority, Priori, Science) and D-U-R-C (Debunk, Unrespectable, Relativize, Cosmopolitan)!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FBBF24"/>
                </a:solidFill>
              </a:rPr>
              <a:t>SY 281 | THURS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MERRIGAN'S 3 PARADIGMS OF KNOWING (EXERCISE #2 TARGET)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1. DISCOVERY / POSITIVIST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Roots: </a:t>
            </a:r>
            <a:r>
              <a:rPr sz="900">
                <a:solidFill>
                  <a:srgbClr val="94A3B8"/>
                </a:solidFill>
              </a:rPr>
              <a:t>Rationalism, Empiricism, Logical Positivism, Behaviorism.</a:t>
            </a:r>
          </a:p>
          <a:p>
            <a:r>
              <a:rPr b="1" sz="950">
                <a:solidFill>
                  <a:srgbClr val="F8FAFC"/>
                </a:solidFill>
              </a:rPr>
              <a:t>Ontology: </a:t>
            </a:r>
            <a:r>
              <a:rPr sz="900">
                <a:solidFill>
                  <a:srgbClr val="94A3B8"/>
                </a:solidFill>
              </a:rPr>
              <a:t>Single, objective, measurable reality external to the human observer.</a:t>
            </a:r>
          </a:p>
          <a:p>
            <a:r>
              <a:rPr b="1" sz="950">
                <a:solidFill>
                  <a:srgbClr val="F8FAFC"/>
                </a:solidFill>
              </a:rPr>
              <a:t>Epistemology: </a:t>
            </a:r>
            <a:r>
              <a:rPr sz="900">
                <a:solidFill>
                  <a:srgbClr val="94A3B8"/>
                </a:solidFill>
              </a:rPr>
              <a:t>Knower and known are strictly separate; objective, value-free observation.</a:t>
            </a:r>
          </a:p>
          <a:p>
            <a:r>
              <a:rPr b="1" sz="950">
                <a:solidFill>
                  <a:srgbClr val="F8FAFC"/>
                </a:solidFill>
              </a:rPr>
              <a:t>Goal: </a:t>
            </a:r>
            <a:r>
              <a:rPr sz="900">
                <a:solidFill>
                  <a:srgbClr val="94A3B8"/>
                </a:solidFill>
              </a:rPr>
              <a:t>Prediction &amp; Causality: discover universal laws, test deductive hypotheses.</a:t>
            </a:r>
          </a:p>
          <a:p>
            <a:r>
              <a:rPr b="1" sz="950">
                <a:solidFill>
                  <a:srgbClr val="F8FAFC"/>
                </a:solidFill>
              </a:rPr>
              <a:t>Role of Values: </a:t>
            </a:r>
            <a:r>
              <a:rPr sz="900">
                <a:solidFill>
                  <a:srgbClr val="94A3B8"/>
                </a:solidFill>
              </a:rPr>
              <a:t>Claims to be completely neutral and value-free (detached spectator).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2. INTERPRETIVE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Roots: </a:t>
            </a:r>
            <a:r>
              <a:rPr sz="900">
                <a:solidFill>
                  <a:srgbClr val="94A3B8"/>
                </a:solidFill>
              </a:rPr>
              <a:t>Hermeneutics, Phenomenology, Symbolic Interactionism (Blumer), Constructivism.</a:t>
            </a:r>
          </a:p>
          <a:p>
            <a:r>
              <a:rPr b="1" sz="950">
                <a:solidFill>
                  <a:srgbClr val="F8FAFC"/>
                </a:solidFill>
              </a:rPr>
              <a:t>Ontology: </a:t>
            </a:r>
            <a:r>
              <a:rPr sz="900">
                <a:solidFill>
                  <a:srgbClr val="94A3B8"/>
                </a:solidFill>
              </a:rPr>
              <a:t>Multiple, socially constructed realities created through symbols and human interaction.</a:t>
            </a:r>
          </a:p>
          <a:p>
            <a:r>
              <a:rPr b="1" sz="950">
                <a:solidFill>
                  <a:srgbClr val="F8FAFC"/>
                </a:solidFill>
              </a:rPr>
              <a:t>Epistemology: </a:t>
            </a:r>
            <a:r>
              <a:rPr sz="900">
                <a:solidFill>
                  <a:srgbClr val="94A3B8"/>
                </a:solidFill>
              </a:rPr>
              <a:t>Knower and known are co-creators; situated, relational, and emergent.</a:t>
            </a:r>
          </a:p>
          <a:p>
            <a:r>
              <a:rPr b="1" sz="950">
                <a:solidFill>
                  <a:srgbClr val="F8FAFC"/>
                </a:solidFill>
              </a:rPr>
              <a:t>Goal: </a:t>
            </a:r>
            <a:r>
              <a:rPr sz="900">
                <a:solidFill>
                  <a:srgbClr val="94A3B8"/>
                </a:solidFill>
              </a:rPr>
              <a:t>Understanding &amp; Meaning: interpret subjective human experiences (Verstehen).</a:t>
            </a:r>
          </a:p>
          <a:p>
            <a:r>
              <a:rPr b="1" sz="950">
                <a:solidFill>
                  <a:srgbClr val="F8FAFC"/>
                </a:solidFill>
              </a:rPr>
              <a:t>Role of Values: </a:t>
            </a:r>
            <a:r>
              <a:rPr sz="900">
                <a:solidFill>
                  <a:srgbClr val="94A3B8"/>
                </a:solidFill>
              </a:rPr>
              <a:t>Recognizes values shape interpretation (Reflexivity).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3F5E"/>
                </a:solidFill>
              </a:rPr>
              <a:t>3. 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Roots: </a:t>
            </a:r>
            <a:r>
              <a:rPr sz="900">
                <a:solidFill>
                  <a:srgbClr val="94A3B8"/>
                </a:solidFill>
              </a:rPr>
              <a:t>Critical Theory (Frankfurt School), Semiotics, Postcolonialism, Deconstruction.</a:t>
            </a:r>
          </a:p>
          <a:p>
            <a:r>
              <a:rPr b="1" sz="950">
                <a:solidFill>
                  <a:srgbClr val="F8FAFC"/>
                </a:solidFill>
              </a:rPr>
              <a:t>Ontology: </a:t>
            </a:r>
            <a:r>
              <a:rPr sz="900">
                <a:solidFill>
                  <a:srgbClr val="94A3B8"/>
                </a:solidFill>
              </a:rPr>
              <a:t>Realities are structured by historical power dynamics, ideology, and hegemony.</a:t>
            </a:r>
          </a:p>
          <a:p>
            <a:r>
              <a:rPr b="1" sz="950">
                <a:solidFill>
                  <a:srgbClr val="F8FAFC"/>
                </a:solidFill>
              </a:rPr>
              <a:t>Epistemology: </a:t>
            </a:r>
            <a:r>
              <a:rPr sz="900">
                <a:solidFill>
                  <a:srgbClr val="94A3B8"/>
                </a:solidFill>
              </a:rPr>
              <a:t>Knower is situated and active; knowledge reflects socio-political interests.</a:t>
            </a:r>
          </a:p>
          <a:p>
            <a:r>
              <a:rPr b="1" sz="950">
                <a:solidFill>
                  <a:srgbClr val="F8FAFC"/>
                </a:solidFill>
              </a:rPr>
              <a:t>Goal: </a:t>
            </a:r>
            <a:r>
              <a:rPr sz="900">
                <a:solidFill>
                  <a:srgbClr val="94A3B8"/>
                </a:solidFill>
              </a:rPr>
              <a:t>Emancipation &amp; Justice: expose hidden inequalities, challenge hegemony.</a:t>
            </a:r>
          </a:p>
          <a:p>
            <a:r>
              <a:rPr b="1" sz="950">
                <a:solidFill>
                  <a:srgbClr val="F8FAFC"/>
                </a:solidFill>
              </a:rPr>
              <a:t>Role of Values: </a:t>
            </a:r>
            <a:r>
              <a:rPr sz="900">
                <a:solidFill>
                  <a:srgbClr val="94A3B8"/>
                </a:solidFill>
              </a:rPr>
              <a:t>Explicitly value-laden: research must take an activist stance for justice.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Master 1-Liner: Discovery = Prediction/Laws | Interpretive = Verstehen/Meaning | Critical = Power/Emancipation!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4D399"/>
                </a:solidFill>
              </a:rPr>
              <a:t>SY 281 |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RADICAL INTERPRETIVE INQUIRY &amp; THE LIFEWORLD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1. SCHUTZ: THE LIFEWORLD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Lebenswelt (Lifeworld): </a:t>
            </a:r>
            <a:r>
              <a:rPr sz="950">
                <a:solidFill>
                  <a:srgbClr val="94A3B8"/>
                </a:solidFill>
              </a:rPr>
              <a:t>The foundational, taken-for-granted realm of everyday shared experience underlying all human science (Alfred Schutz).</a:t>
            </a:r>
          </a:p>
          <a:p>
            <a:r>
              <a:rPr b="1" sz="1000">
                <a:solidFill>
                  <a:srgbClr val="F8FAFC"/>
                </a:solidFill>
              </a:rPr>
              <a:t>• The Discovery Blindspot: </a:t>
            </a:r>
            <a:r>
              <a:rPr sz="950">
                <a:solidFill>
                  <a:srgbClr val="94A3B8"/>
                </a:solidFill>
              </a:rPr>
              <a:t>The external reality of the discovery paradigm rests on the lifeworld, but science fails to explicate it.</a:t>
            </a:r>
          </a:p>
          <a:p>
            <a:r>
              <a:rPr b="1" sz="1000">
                <a:solidFill>
                  <a:srgbClr val="F8FAFC"/>
                </a:solidFill>
              </a:rPr>
              <a:t>• Weber's Verstehen: </a:t>
            </a:r>
            <a:r>
              <a:rPr sz="950">
                <a:solidFill>
                  <a:srgbClr val="94A3B8"/>
                </a:solidFill>
              </a:rPr>
              <a:t>Understanding social action requires empathetic grasping of the actor's own meaning and intentionality.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2. LANGUAGE AS SIGNIFICATION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Shared Pool of Meaning: </a:t>
            </a:r>
            <a:r>
              <a:rPr sz="950">
                <a:solidFill>
                  <a:srgbClr val="94A3B8"/>
                </a:solidFill>
              </a:rPr>
              <a:t>Meaning cannot be formed without language or a shared pool of symbols (Winch 1958; Blumer 1969).</a:t>
            </a:r>
          </a:p>
          <a:p>
            <a:r>
              <a:rPr b="1" sz="1000">
                <a:solidFill>
                  <a:srgbClr val="F8FAFC"/>
                </a:solidFill>
              </a:rPr>
              <a:t>• No Raw Observation: </a:t>
            </a:r>
            <a:r>
              <a:rPr sz="950">
                <a:solidFill>
                  <a:srgbClr val="94A3B8"/>
                </a:solidFill>
              </a:rPr>
              <a:t>Even empirical facts cannot be perceived without an adequate conceptual and linguistic framework.</a:t>
            </a:r>
          </a:p>
          <a:p>
            <a:r>
              <a:rPr b="1" sz="1000">
                <a:solidFill>
                  <a:srgbClr val="F8FAFC"/>
                </a:solidFill>
              </a:rPr>
              <a:t>• Agency &amp; Structure: </a:t>
            </a:r>
            <a:r>
              <a:rPr sz="950">
                <a:solidFill>
                  <a:srgbClr val="94A3B8"/>
                </a:solidFill>
              </a:rPr>
              <a:t>Social members are active agents who create meaning, not just passive receptors.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</a:rPr>
              <a:t>3. TRANSACTIONAL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Knower &amp; Known: </a:t>
            </a:r>
            <a:r>
              <a:rPr sz="950">
                <a:solidFill>
                  <a:srgbClr val="94A3B8"/>
                </a:solidFill>
              </a:rPr>
              <a:t>Knowledge is a product of a transaction between a knower and a known, never an isolated object.</a:t>
            </a:r>
          </a:p>
          <a:p>
            <a:r>
              <a:rPr b="1" sz="1000">
                <a:solidFill>
                  <a:srgbClr val="F8FAFC"/>
                </a:solidFill>
              </a:rPr>
              <a:t>• Perspective Coloring: </a:t>
            </a:r>
            <a:r>
              <a:rPr sz="950">
                <a:solidFill>
                  <a:srgbClr val="94A3B8"/>
                </a:solidFill>
              </a:rPr>
              <a:t>Different observers see different things. To know = to understand the perspective that made knowledge possible.</a:t>
            </a:r>
          </a:p>
          <a:p>
            <a:r>
              <a:rPr b="1" sz="1000">
                <a:solidFill>
                  <a:srgbClr val="F8FAFC"/>
                </a:solidFill>
              </a:rPr>
              <a:t>• Limits of 'Objectivity': </a:t>
            </a:r>
            <a:r>
              <a:rPr sz="950">
                <a:solidFill>
                  <a:srgbClr val="94A3B8"/>
                </a:solidFill>
              </a:rPr>
              <a:t>The claim of pure objectivity is a philosophical illusion hiding positionality.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Explain on whiteboard: Why does qualitative research say knowledge is a TRANSACTION between knower and known?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A78BFA"/>
                </a:solidFill>
              </a:rPr>
              <a:t>FS 209C | WEEKS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CULINARY SEMIOTICS &amp; FILM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</a:rPr>
              <a:t>1. BARTHES' SEMIOTIC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Signifier (The Object): </a:t>
            </a:r>
            <a:r>
              <a:rPr sz="950">
                <a:solidFill>
                  <a:srgbClr val="94A3B8"/>
                </a:solidFill>
              </a:rPr>
              <a:t>The physical food image on screen (steaming ramen broth, water parsley, raw egg yolk, fried chicken).</a:t>
            </a:r>
          </a:p>
          <a:p>
            <a:r>
              <a:rPr b="1" sz="1000">
                <a:solidFill>
                  <a:srgbClr val="F8FAFC"/>
                </a:solidFill>
              </a:rPr>
              <a:t>• Signified (The Concept): </a:t>
            </a:r>
            <a:r>
              <a:rPr sz="950">
                <a:solidFill>
                  <a:srgbClr val="94A3B8"/>
                </a:solidFill>
              </a:rPr>
              <a:t>The cultural meaning (artisanal craftsmanship, bodily intimacy, maternal devotion, racial resilience).</a:t>
            </a:r>
          </a:p>
          <a:p>
            <a:r>
              <a:rPr b="1" sz="1000">
                <a:solidFill>
                  <a:srgbClr val="F8FAFC"/>
                </a:solidFill>
              </a:rPr>
              <a:t>• Food as Discourse: </a:t>
            </a:r>
            <a:r>
              <a:rPr sz="950">
                <a:solidFill>
                  <a:srgbClr val="94A3B8"/>
                </a:solidFill>
              </a:rPr>
              <a:t>Food is never mere nourishment; it is an active language communicating power and identity.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2. MISE-EN-SCÈNE &amp;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Mise-en-scène: </a:t>
            </a:r>
            <a:r>
              <a:rPr sz="950">
                <a:solidFill>
                  <a:srgbClr val="94A3B8"/>
                </a:solidFill>
              </a:rPr>
              <a:t>Everything before the camera: lighting (warm golden broth vs harsh industrial lights), actor blocking, costume, and kitchen props.</a:t>
            </a:r>
          </a:p>
          <a:p>
            <a:r>
              <a:rPr b="1" sz="1000">
                <a:solidFill>
                  <a:srgbClr val="F8FAFC"/>
                </a:solidFill>
              </a:rPr>
              <a:t>• Diegetic Sound: </a:t>
            </a:r>
            <a:r>
              <a:rPr sz="950">
                <a:solidFill>
                  <a:srgbClr val="94A3B8"/>
                </a:solidFill>
              </a:rPr>
              <a:t>Sounds originating inside the film world (slurping noodles, clattering cleavers, sizzling oil, babbling creek).</a:t>
            </a:r>
          </a:p>
          <a:p>
            <a:r>
              <a:rPr b="1" sz="1000">
                <a:solidFill>
                  <a:srgbClr val="F8FAFC"/>
                </a:solidFill>
              </a:rPr>
              <a:t>• Non-Diegetic Sound: </a:t>
            </a:r>
            <a:r>
              <a:rPr sz="950">
                <a:solidFill>
                  <a:srgbClr val="94A3B8"/>
                </a:solidFill>
              </a:rPr>
              <a:t>Musical score added for the audience to manipulate emotional mood.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3. GASTRO-NOSTALGIA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Definition: </a:t>
            </a:r>
            <a:r>
              <a:rPr sz="950">
                <a:solidFill>
                  <a:srgbClr val="94A3B8"/>
                </a:solidFill>
              </a:rPr>
              <a:t>Using culinary rituals to recreate a lost homeland, childhood security, or ancestral belonging.</a:t>
            </a:r>
          </a:p>
          <a:p>
            <a:r>
              <a:rPr b="1" sz="1000">
                <a:solidFill>
                  <a:srgbClr val="F8FAFC"/>
                </a:solidFill>
              </a:rPr>
              <a:t>• Diasporic Buffer: </a:t>
            </a:r>
            <a:r>
              <a:rPr sz="950">
                <a:solidFill>
                  <a:srgbClr val="94A3B8"/>
                </a:solidFill>
              </a:rPr>
              <a:t>Immigrants recreate recipes to shield themselves from alienation and racism in host countries.</a:t>
            </a:r>
          </a:p>
          <a:p>
            <a:r>
              <a:rPr b="1" sz="1000">
                <a:solidFill>
                  <a:srgbClr val="F8FAFC"/>
                </a:solidFill>
              </a:rPr>
              <a:t>• Sensory Memory: </a:t>
            </a:r>
            <a:r>
              <a:rPr sz="950">
                <a:solidFill>
                  <a:srgbClr val="94A3B8"/>
                </a:solidFill>
              </a:rPr>
              <a:t>Taste and smell bypass intellectual defenses, anchoring visceral cultural continuity.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Identify: Signifier vs Signified. Diegetic vs Non-Diegetic Sound. How does Mise-en-scène elevate food?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FBBF24"/>
                </a:solidFill>
              </a:rPr>
              <a:t>FS 209C |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TAMPOPO (1985): THE RAMEN WESTERN &amp; 5 VIGNETTES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65760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BBF24"/>
                </a:solidFill>
              </a:rPr>
              <a:t>THE 'RAMEN WESTERN'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8328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Genre Hybridity: </a:t>
            </a:r>
            <a:r>
              <a:rPr sz="950">
                <a:solidFill>
                  <a:srgbClr val="94A3B8"/>
                </a:solidFill>
              </a:rPr>
              <a:t>Parody of classic Hollywood Westerns (Shane). Two milk-truck drivers in cowboy hats (Goro and Gun) ride into town to rescue a ramen widow.</a:t>
            </a:r>
          </a:p>
          <a:p>
            <a:r>
              <a:rPr b="1" sz="1000">
                <a:solidFill>
                  <a:srgbClr val="F8FAFC"/>
                </a:solidFill>
              </a:rPr>
              <a:t>• Pedagogy &amp; Training: </a:t>
            </a:r>
            <a:r>
              <a:rPr sz="950">
                <a:solidFill>
                  <a:srgbClr val="94A3B8"/>
                </a:solidFill>
              </a:rPr>
              <a:t>The film structures cooking as a martial arts training montage, transforming Tampopo into a master noodle artisan.</a:t>
            </a:r>
          </a:p>
          <a:p>
            <a:r>
              <a:rPr b="1" sz="1000">
                <a:solidFill>
                  <a:srgbClr val="F8FAFC"/>
                </a:solidFill>
              </a:rPr>
              <a:t>• Social Commentary: </a:t>
            </a:r>
            <a:r>
              <a:rPr sz="950">
                <a:solidFill>
                  <a:srgbClr val="94A3B8"/>
                </a:solidFill>
              </a:rPr>
              <a:t>Juzo Itami critiques modern Japanese commercialism, class rigidity, and foreign cultural mimicry.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05840"/>
            <a:ext cx="670529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097280"/>
            <a:ext cx="64309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THE 5 CORE EXAM VIGNETTES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508760"/>
            <a:ext cx="6430975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• 1. Shokunin (Artisanal Craft): </a:t>
            </a:r>
            <a:r>
              <a:rPr sz="900">
                <a:solidFill>
                  <a:srgbClr val="94A3B8"/>
                </a:solidFill>
              </a:rPr>
              <a:t>Elderly ramen master teaches young pupil to 'apologize to the pork slices' and caress noodles with chopsticks. Broth is sacred discipline.</a:t>
            </a:r>
          </a:p>
          <a:p>
            <a:r>
              <a:rPr b="1" sz="950">
                <a:solidFill>
                  <a:srgbClr val="F8FAFC"/>
                </a:solidFill>
              </a:rPr>
              <a:t>• 2. Erotic Intimacy: </a:t>
            </a:r>
            <a:r>
              <a:rPr sz="900">
                <a:solidFill>
                  <a:srgbClr val="94A3B8"/>
                </a:solidFill>
              </a:rPr>
              <a:t>Gangster in white suit and his mistress sharing food (passing raw egg yolk mouth-to-mouth, live prawn on stomach). Food as sensual body terrain.</a:t>
            </a:r>
          </a:p>
          <a:p>
            <a:r>
              <a:rPr b="1" sz="950">
                <a:solidFill>
                  <a:srgbClr val="F8FAFC"/>
                </a:solidFill>
              </a:rPr>
              <a:t>• 3. Class Hierarchy: </a:t>
            </a:r>
            <a:r>
              <a:rPr sz="900">
                <a:solidFill>
                  <a:srgbClr val="94A3B8"/>
                </a:solidFill>
              </a:rPr>
              <a:t>Junior salaryman at French restaurant orders complex delicacies in fluent French while senior executives only copy the boss. Food subverting authority.</a:t>
            </a:r>
          </a:p>
          <a:p>
            <a:r>
              <a:rPr b="1" sz="950">
                <a:solidFill>
                  <a:srgbClr val="F8FAFC"/>
                </a:solidFill>
              </a:rPr>
              <a:t>• 4. Spaghetti Etiquette: </a:t>
            </a:r>
            <a:r>
              <a:rPr sz="900">
                <a:solidFill>
                  <a:srgbClr val="94A3B8"/>
                </a:solidFill>
              </a:rPr>
              <a:t>Japanese women finishing school learning silent Western pasta eating until an American tourist slurps loudly, triggering joyous slurping.</a:t>
            </a:r>
          </a:p>
          <a:p>
            <a:r>
              <a:rPr b="1" sz="950">
                <a:solidFill>
                  <a:srgbClr val="F8FAFC"/>
                </a:solidFill>
              </a:rPr>
              <a:t>• 5. Maternal Sacrifice: </a:t>
            </a:r>
            <a:r>
              <a:rPr sz="900">
                <a:solidFill>
                  <a:srgbClr val="94A3B8"/>
                </a:solidFill>
              </a:rPr>
              <a:t>Dying mother rises from deathbed to cook one final fried rice dinner for her family, then collapses dead as they eat. Food as domestic self-sacrifice.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Speedrun the 5 Vignettes: Shokunin (Master), Erotic (Egg yolk), Class (French restaurant), Etiquette (Spaghetti slurp), Maternal (Fried rice)!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4D399"/>
                </a:solidFill>
              </a:rPr>
              <a:t>FS 209C | TOPIC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MINARI (2020) &amp; DIASPORIC FOODWAYS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COLUMBIAN EXCHANGE &amp; CHEUNG'S THESES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The Columbian Exchange: </a:t>
            </a:r>
            <a:r>
              <a:rPr sz="950">
                <a:solidFill>
                  <a:srgbClr val="94A3B8"/>
                </a:solidFill>
              </a:rPr>
              <a:t>Alfred Crosby (1972): Post-1492 global transfer of plants, crops, culture, and disease between Americas and Afro-Eurasia.</a:t>
            </a:r>
          </a:p>
          <a:p>
            <a:r>
              <a:rPr b="1" sz="1000">
                <a:solidFill>
                  <a:srgbClr val="F8FAFC"/>
                </a:solidFill>
              </a:rPr>
              <a:t>• Authenticity as Social Claim: </a:t>
            </a:r>
            <a:r>
              <a:rPr sz="950">
                <a:solidFill>
                  <a:srgbClr val="94A3B8"/>
                </a:solidFill>
              </a:rPr>
              <a:t>Sidney Cheung: Authenticity is NOT an innate recipe property; it is a contested social negotiation of memory and belonging.</a:t>
            </a:r>
          </a:p>
          <a:p>
            <a:r>
              <a:rPr b="1" sz="1000">
                <a:solidFill>
                  <a:srgbClr val="F8FAFC"/>
                </a:solidFill>
              </a:rPr>
              <a:t>• Hybridity vs Origin: </a:t>
            </a:r>
            <a:r>
              <a:rPr sz="950">
                <a:solidFill>
                  <a:srgbClr val="94A3B8"/>
                </a:solidFill>
              </a:rPr>
              <a:t>Diasporic food is a generative new cultural formation, not an 'adulterated' copy of an original homeland dish.</a:t>
            </a:r>
          </a:p>
          <a:p>
            <a:r>
              <a:rPr b="1" sz="1000">
                <a:solidFill>
                  <a:srgbClr val="F8FAFC"/>
                </a:solidFill>
              </a:rPr>
              <a:t>• Spice Politics: </a:t>
            </a:r>
            <a:r>
              <a:rPr sz="950">
                <a:solidFill>
                  <a:srgbClr val="94A3B8"/>
                </a:solidFill>
              </a:rPr>
              <a:t>Chili peppers, tomatoes, coffee: how ingredients crossed empires to become markers of prestige, grief, and survival.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MINARI AS METAPHOR (3 LEVELS)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Denotative Level: </a:t>
            </a:r>
            <a:r>
              <a:rPr sz="950">
                <a:solidFill>
                  <a:srgbClr val="94A3B8"/>
                </a:solidFill>
              </a:rPr>
              <a:t>Korean water parsley planted by grandmother Soon-ja by the muddy creek bed.</a:t>
            </a:r>
          </a:p>
          <a:p>
            <a:r>
              <a:rPr b="1" sz="1000">
                <a:solidFill>
                  <a:srgbClr val="F8FAFC"/>
                </a:solidFill>
              </a:rPr>
              <a:t>• Connotative Level: </a:t>
            </a:r>
            <a:r>
              <a:rPr sz="950">
                <a:solidFill>
                  <a:srgbClr val="94A3B8"/>
                </a:solidFill>
              </a:rPr>
              <a:t>Immigrant resilience, unpretentious survival, thriving naturally where commercial cash crops wither.</a:t>
            </a:r>
          </a:p>
          <a:p>
            <a:r>
              <a:rPr b="1" sz="1000">
                <a:solidFill>
                  <a:srgbClr val="F8FAFC"/>
                </a:solidFill>
              </a:rPr>
              <a:t>• Mythical / Ideological Level: </a:t>
            </a:r>
            <a:r>
              <a:rPr sz="950">
                <a:solidFill>
                  <a:srgbClr val="94A3B8"/>
                </a:solidFill>
              </a:rPr>
              <a:t>Ancestral maternal grounding (Soon-ja) saving the family, critiquing Jacob's high-risk patriarchal capitalist 'American Dream' that burns down.</a:t>
            </a:r>
          </a:p>
          <a:p>
            <a:r>
              <a:rPr b="1" sz="1000">
                <a:solidFill>
                  <a:srgbClr val="F8FAFC"/>
                </a:solidFill>
              </a:rPr>
              <a:t>• Generational Food Clashes: </a:t>
            </a:r>
            <a:r>
              <a:rPr sz="950">
                <a:solidFill>
                  <a:srgbClr val="94A3B8"/>
                </a:solidFill>
              </a:rPr>
              <a:t>David rejects Korean herbal medicine ('grandma smells like Korea'), drinking American Mountain Dew ('water from the mountains').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Whiteboard Prompt: Explain the 3 levels of Minari signification. Why does the grandmother's minari survive the barn fire?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8BDF8"/>
                </a:solidFill>
              </a:rPr>
              <a:t>KS 205 | 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DEFINING COMICS &amp; THE SPATIALIZATION OF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1. MEDIUM VS GENRE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Medium: </a:t>
            </a:r>
            <a:r>
              <a:rPr sz="950">
                <a:solidFill>
                  <a:srgbClr val="94A3B8"/>
                </a:solidFill>
              </a:rPr>
              <a:t>The formal and physical substance of artistic communication (comics, cinema, painting, sculpture).</a:t>
            </a:r>
          </a:p>
          <a:p>
            <a:r>
              <a:rPr b="1" sz="1000">
                <a:solidFill>
                  <a:srgbClr val="F8FAFC"/>
                </a:solidFill>
              </a:rPr>
              <a:t>• Genre: </a:t>
            </a:r>
            <a:r>
              <a:rPr sz="950">
                <a:solidFill>
                  <a:srgbClr val="94A3B8"/>
                </a:solidFill>
              </a:rPr>
              <a:t>The stylistic or thematic category (superhero, horror, romance, memoir, science fiction).</a:t>
            </a:r>
          </a:p>
          <a:p>
            <a:r>
              <a:rPr b="1" sz="1000">
                <a:solidFill>
                  <a:srgbClr val="F8FAFC"/>
                </a:solidFill>
              </a:rPr>
              <a:t>• Common Fallacy: </a:t>
            </a:r>
            <a:r>
              <a:rPr sz="950">
                <a:solidFill>
                  <a:srgbClr val="94A3B8"/>
                </a:solidFill>
              </a:rPr>
              <a:t>Equating comics solely with 'superheroes in tights' confuses a single commercial genre with an expressive medium.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2. McCLOUD'S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The Formula: </a:t>
            </a:r>
            <a:r>
              <a:rPr sz="950">
                <a:solidFill>
                  <a:srgbClr val="94A3B8"/>
                </a:solidFill>
              </a:rPr>
              <a:t>'Juxtaposed pictorial and other images in deliberate sequence, intended to convey info or produce aesthetic response.'</a:t>
            </a:r>
          </a:p>
          <a:p>
            <a:r>
              <a:rPr b="1" sz="1000">
                <a:solidFill>
                  <a:srgbClr val="F8FAFC"/>
                </a:solidFill>
              </a:rPr>
              <a:t>• Sequential Art: </a:t>
            </a:r>
            <a:r>
              <a:rPr sz="950">
                <a:solidFill>
                  <a:srgbClr val="94A3B8"/>
                </a:solidFill>
              </a:rPr>
              <a:t>Built upon Will Eisner's foundational concept of sequential art.</a:t>
            </a:r>
          </a:p>
          <a:p>
            <a:r>
              <a:rPr b="1" sz="1000">
                <a:solidFill>
                  <a:srgbClr val="F8FAFC"/>
                </a:solidFill>
              </a:rPr>
              <a:t>• Meskin's Critique: </a:t>
            </a:r>
            <a:r>
              <a:rPr sz="950">
                <a:solidFill>
                  <a:srgbClr val="94A3B8"/>
                </a:solidFill>
              </a:rPr>
              <a:t>Aaron Meskin notes McCloud's definition is both too broad (stained glass, manuals) and excludes single-panel cartoons.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</a:rPr>
              <a:t>3. LESSING'S LAOCOÖN (1766)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Painting = Space: </a:t>
            </a:r>
            <a:r>
              <a:rPr sz="950">
                <a:solidFill>
                  <a:srgbClr val="94A3B8"/>
                </a:solidFill>
              </a:rPr>
              <a:t>Employs signs coexisting in space; best suited for depicting static bodies.</a:t>
            </a:r>
          </a:p>
          <a:p>
            <a:r>
              <a:rPr b="1" sz="1000">
                <a:solidFill>
                  <a:srgbClr val="F8FAFC"/>
                </a:solidFill>
              </a:rPr>
              <a:t>• Poetry = Time: </a:t>
            </a:r>
            <a:r>
              <a:rPr sz="950">
                <a:solidFill>
                  <a:srgbClr val="94A3B8"/>
                </a:solidFill>
              </a:rPr>
              <a:t>Employs articulate sounds in time; best suited for sequential actions.</a:t>
            </a:r>
          </a:p>
          <a:p>
            <a:r>
              <a:rPr b="1" sz="1000">
                <a:solidFill>
                  <a:srgbClr val="F8FAFC"/>
                </a:solidFill>
              </a:rPr>
              <a:t>• Comics Breaks Boundary: </a:t>
            </a:r>
            <a:r>
              <a:rPr sz="950">
                <a:solidFill>
                  <a:srgbClr val="94A3B8"/>
                </a:solidFill>
              </a:rPr>
              <a:t>Comics SPATIALIZES TIME: juxtaposing static spaces (panels) to produce temporal narrative sequence!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Whiteboard Target: McCloud's 1-line definition of comics + How comics turns Lessing's Space into Time!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8BDF8"/>
                </a:solidFill>
              </a:rPr>
              <a:t>KS 205 | 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ANTECEDENTS, CLOSURE &amp; 6 PANEL TRANSITIONS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HISTORICAL ANTECEDENTS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Bayeux Tapestry (1070s): </a:t>
            </a:r>
            <a:r>
              <a:rPr sz="950">
                <a:solidFill>
                  <a:srgbClr val="94A3B8"/>
                </a:solidFill>
              </a:rPr>
              <a:t>70-meter embroidered linen depicting Norman Conquest in sequence.</a:t>
            </a:r>
          </a:p>
          <a:p>
            <a:r>
              <a:rPr b="1" sz="1000">
                <a:solidFill>
                  <a:srgbClr val="F8FAFC"/>
                </a:solidFill>
              </a:rPr>
              <a:t>• Mixtec Codices (14th C): </a:t>
            </a:r>
            <a:r>
              <a:rPr sz="950">
                <a:solidFill>
                  <a:srgbClr val="94A3B8"/>
                </a:solidFill>
              </a:rPr>
              <a:t>Mesoamerican picture manuscripts (8 Deer Jaguar Claw) using pictographs.</a:t>
            </a:r>
          </a:p>
          <a:p>
            <a:r>
              <a:rPr b="1" sz="1000">
                <a:solidFill>
                  <a:srgbClr val="F8FAFC"/>
                </a:solidFill>
              </a:rPr>
              <a:t>• William Hogarth (1730s): </a:t>
            </a:r>
            <a:r>
              <a:rPr sz="950">
                <a:solidFill>
                  <a:srgbClr val="94A3B8"/>
                </a:solidFill>
              </a:rPr>
              <a:t>Sequential moral progress print suites (A Harlot's Progress).</a:t>
            </a:r>
          </a:p>
          <a:p>
            <a:r>
              <a:rPr b="1" sz="1000">
                <a:solidFill>
                  <a:srgbClr val="F8FAFC"/>
                </a:solidFill>
              </a:rPr>
              <a:t>• Rodolphe Töpffer (1833): </a:t>
            </a:r>
            <a:r>
              <a:rPr sz="950">
                <a:solidFill>
                  <a:srgbClr val="94A3B8"/>
                </a:solidFill>
              </a:rPr>
              <a:t>Father of modern comic strip (Histoire de M. Jabot). Caricature + text.</a:t>
            </a:r>
          </a:p>
          <a:p>
            <a:r>
              <a:rPr b="1" sz="1000">
                <a:solidFill>
                  <a:srgbClr val="F8FAFC"/>
                </a:solidFill>
              </a:rPr>
              <a:t>• The Yellow Kid (1895): </a:t>
            </a:r>
            <a:r>
              <a:rPr sz="950">
                <a:solidFill>
                  <a:srgbClr val="94A3B8"/>
                </a:solidFill>
              </a:rPr>
              <a:t>Outcault's pioneer in Hogan's Alley. Color print, word balloons.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CLOSURE &amp; 6 TRANSITIONS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• The Gutter &amp; Closure: </a:t>
            </a:r>
            <a:r>
              <a:rPr sz="900">
                <a:solidFill>
                  <a:srgbClr val="94A3B8"/>
                </a:solidFill>
              </a:rPr>
              <a:t>The blank space between panels where the reader's imagination turns static frames into motion.</a:t>
            </a:r>
          </a:p>
          <a:p>
            <a:r>
              <a:rPr b="1" sz="950">
                <a:solidFill>
                  <a:srgbClr val="F8FAFC"/>
                </a:solidFill>
              </a:rPr>
              <a:t>• 1. Moment-to-Moment: </a:t>
            </a:r>
            <a:r>
              <a:rPr sz="900">
                <a:solidFill>
                  <a:srgbClr val="94A3B8"/>
                </a:solidFill>
              </a:rPr>
              <a:t>Tiny duration, minimal closure (eye blinking).</a:t>
            </a:r>
          </a:p>
          <a:p>
            <a:r>
              <a:rPr b="1" sz="950">
                <a:solidFill>
                  <a:srgbClr val="F8FAFC"/>
                </a:solidFill>
              </a:rPr>
              <a:t>• 2. Action-to-Action: </a:t>
            </a:r>
            <a:r>
              <a:rPr sz="900">
                <a:solidFill>
                  <a:srgbClr val="94A3B8"/>
                </a:solidFill>
              </a:rPr>
              <a:t>Single subject performing progressive action (batter -&gt; ball).</a:t>
            </a:r>
          </a:p>
          <a:p>
            <a:r>
              <a:rPr b="1" sz="950">
                <a:solidFill>
                  <a:srgbClr val="F8FAFC"/>
                </a:solidFill>
              </a:rPr>
              <a:t>• 3. Subject-to-Subject: </a:t>
            </a:r>
            <a:r>
              <a:rPr sz="900">
                <a:solidFill>
                  <a:srgbClr val="94A3B8"/>
                </a:solidFill>
              </a:rPr>
              <a:t>Stays in one scene, shifting between subjects (speaker -&gt; listener).</a:t>
            </a:r>
          </a:p>
          <a:p>
            <a:r>
              <a:rPr b="1" sz="950">
                <a:solidFill>
                  <a:srgbClr val="F8FAFC"/>
                </a:solidFill>
              </a:rPr>
              <a:t>• 4. Scene-to-Scene: </a:t>
            </a:r>
            <a:r>
              <a:rPr sz="900">
                <a:solidFill>
                  <a:srgbClr val="94A3B8"/>
                </a:solidFill>
              </a:rPr>
              <a:t>Big jumps across time and space ('Paris 1940' -&gt; 'NY 2026').</a:t>
            </a:r>
          </a:p>
          <a:p>
            <a:r>
              <a:rPr b="1" sz="950">
                <a:solidFill>
                  <a:srgbClr val="F8FAFC"/>
                </a:solidFill>
              </a:rPr>
              <a:t>• 5. Aspect-to-Aspect: </a:t>
            </a:r>
            <a:r>
              <a:rPr sz="900">
                <a:solidFill>
                  <a:srgbClr val="94A3B8"/>
                </a:solidFill>
              </a:rPr>
              <a:t>Wandering eye setting mood or place (common in Manga).</a:t>
            </a:r>
          </a:p>
          <a:p>
            <a:r>
              <a:rPr b="1" sz="950">
                <a:solidFill>
                  <a:srgbClr val="F8FAFC"/>
                </a:solidFill>
              </a:rPr>
              <a:t>• 6. Non-Sequitur: </a:t>
            </a:r>
            <a:r>
              <a:rPr sz="900">
                <a:solidFill>
                  <a:srgbClr val="94A3B8"/>
                </a:solidFill>
              </a:rPr>
              <a:t>No apparent logical connection.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Write down the 6 transitions: Moment, Action, Subject, Scene, Aspect, Non-Sequitur!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FBBF24"/>
                </a:solidFill>
              </a:rPr>
              <a:t>KS 205 | OCT 3 IN LH3094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NEWSPAPER STRIP ANALYSIS BLUEPRINT (25% EXAM)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8404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BBF24"/>
                </a:solidFill>
              </a:rPr>
              <a:t>EXAM LOGISTICS &amp; CORE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5661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Time &amp; Room: </a:t>
            </a:r>
            <a:r>
              <a:rPr sz="950">
                <a:solidFill>
                  <a:srgbClr val="94A3B8"/>
                </a:solidFill>
              </a:rPr>
              <a:t>Saturday, October 3, 2026 from 8:30 AM to 11:00 AM in LH3094 on Waterloo campus.</a:t>
            </a:r>
          </a:p>
          <a:p>
            <a:r>
              <a:rPr b="1" sz="1000">
                <a:solidFill>
                  <a:srgbClr val="F8FAFC"/>
                </a:solidFill>
              </a:rPr>
              <a:t>• Format &amp; Weight: </a:t>
            </a:r>
            <a:r>
              <a:rPr sz="950">
                <a:solidFill>
                  <a:srgbClr val="94A3B8"/>
                </a:solidFill>
              </a:rPr>
              <a:t>Written in-person on paper. Worth 25% of your final grade. Comic strip provided on exam day.</a:t>
            </a:r>
          </a:p>
          <a:p>
            <a:r>
              <a:rPr b="1" sz="1000">
                <a:solidFill>
                  <a:srgbClr val="F8FAFC"/>
                </a:solidFill>
              </a:rPr>
              <a:t>• Template Essay: </a:t>
            </a:r>
            <a:r>
              <a:rPr sz="950">
                <a:solidFill>
                  <a:srgbClr val="94A3B8"/>
                </a:solidFill>
              </a:rPr>
              <a:t>Mark Newgarden &amp; Paul Karasik's 'How to Read Nancy': showing how an apparently simple strip contains thousands of deliberate formal choices.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005840"/>
            <a:ext cx="652241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097280"/>
            <a:ext cx="6248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5-PARAGRAPH ARCHITECTURAL OUTLINE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508760"/>
            <a:ext cx="6248095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• Para 1: Panel Architecture &amp; Layout: </a:t>
            </a:r>
            <a:r>
              <a:rPr sz="900">
                <a:solidFill>
                  <a:srgbClr val="94A3B8"/>
                </a:solidFill>
              </a:rPr>
              <a:t>Deconstruct grid (3 vs 4 panels). Identify Setup -&gt; Complication -&gt; Punchline structure.</a:t>
            </a:r>
          </a:p>
          <a:p>
            <a:r>
              <a:rPr b="1" sz="950">
                <a:solidFill>
                  <a:srgbClr val="F8FAFC"/>
                </a:solidFill>
              </a:rPr>
              <a:t>• Para 2: Composition &amp; Vector Path: </a:t>
            </a:r>
            <a:r>
              <a:rPr sz="900">
                <a:solidFill>
                  <a:srgbClr val="94A3B8"/>
                </a:solidFill>
              </a:rPr>
              <a:t>How character eyelines, body diagonals, and prop placement direct reader's eye across panels.</a:t>
            </a:r>
          </a:p>
          <a:p>
            <a:r>
              <a:rPr b="1" sz="950">
                <a:solidFill>
                  <a:srgbClr val="F8FAFC"/>
                </a:solidFill>
              </a:rPr>
              <a:t>• Para 3: Transitions &amp; Gutter Mechanics: </a:t>
            </a:r>
            <a:r>
              <a:rPr sz="900">
                <a:solidFill>
                  <a:srgbClr val="94A3B8"/>
                </a:solidFill>
              </a:rPr>
              <a:t>Classify exact McCloud transitions (Action-to-Action vs Subject-to-Subject). What invisible work happens in gutters?</a:t>
            </a:r>
          </a:p>
          <a:p>
            <a:r>
              <a:rPr b="1" sz="950">
                <a:solidFill>
                  <a:srgbClr val="F8FAFC"/>
                </a:solidFill>
              </a:rPr>
              <a:t>• Para 4: Word-Image Interaction: </a:t>
            </a:r>
            <a:r>
              <a:rPr sz="900">
                <a:solidFill>
                  <a:srgbClr val="94A3B8"/>
                </a:solidFill>
              </a:rPr>
              <a:t>Are words duo-specific (redundant), additive (expanding meaning), or ironic (contradicting drawing)?</a:t>
            </a:r>
          </a:p>
          <a:p>
            <a:r>
              <a:rPr b="1" sz="950">
                <a:solidFill>
                  <a:srgbClr val="F8FAFC"/>
                </a:solidFill>
              </a:rPr>
              <a:t>• Para 5: Visual Economy &amp; Humor Payoff: </a:t>
            </a:r>
            <a:r>
              <a:rPr sz="900">
                <a:solidFill>
                  <a:srgbClr val="94A3B8"/>
                </a:solidFill>
              </a:rPr>
              <a:t>How does cartoonist strip away superfluous details so the narrative gag lands with surgical clarity?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Memorize 5-step analysis: 1. Architecture, 2. Composition/Eye-path, 3. Transitions/Gutter, 4. Word-Image, 5. Visual Economy!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4D399"/>
                </a:solidFill>
              </a:rPr>
              <a:t>RECALL SPEEDRUN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60-SECOND ACTIVE RECALL HUD (MASTER CHEAT CODE)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SY 281 QUICK ANCHORS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• Ego Conquiro -&gt; Cogito: </a:t>
            </a:r>
            <a:r>
              <a:rPr sz="900">
                <a:solidFill>
                  <a:srgbClr val="94A3B8"/>
                </a:solidFill>
              </a:rPr>
              <a:t>Conquest preceded Descartes' reason.</a:t>
            </a:r>
          </a:p>
          <a:p>
            <a:r>
              <a:rPr b="1" sz="950">
                <a:solidFill>
                  <a:srgbClr val="F8FAFC"/>
                </a:solidFill>
              </a:rPr>
              <a:t>• A-A-A-W: </a:t>
            </a:r>
            <a:r>
              <a:rPr sz="900">
                <a:solidFill>
                  <a:srgbClr val="94A3B8"/>
                </a:solidFill>
              </a:rPr>
              <a:t>Al-Andalus, Americas, Africa, Witches.</a:t>
            </a:r>
          </a:p>
          <a:p>
            <a:r>
              <a:rPr b="1" sz="950">
                <a:solidFill>
                  <a:srgbClr val="F8FAFC"/>
                </a:solidFill>
              </a:rPr>
              <a:t>• 1910 Memorial: </a:t>
            </a:r>
            <a:r>
              <a:rPr sz="900">
                <a:solidFill>
                  <a:srgbClr val="94A3B8"/>
                </a:solidFill>
              </a:rPr>
              <a:t>Kamloops; Host-Guest flipped to colonial dominance.</a:t>
            </a:r>
          </a:p>
          <a:p>
            <a:r>
              <a:rPr b="1" sz="950">
                <a:solidFill>
                  <a:srgbClr val="F8FAFC"/>
                </a:solidFill>
              </a:rPr>
              <a:t>• Sec. 141 Indian Act: </a:t>
            </a:r>
            <a:r>
              <a:rPr sz="900">
                <a:solidFill>
                  <a:srgbClr val="94A3B8"/>
                </a:solidFill>
              </a:rPr>
              <a:t>1927 ban on hiring land-claim lawyers.</a:t>
            </a:r>
          </a:p>
          <a:p>
            <a:r>
              <a:rPr b="1" sz="950">
                <a:solidFill>
                  <a:srgbClr val="F8FAFC"/>
                </a:solidFill>
              </a:rPr>
              <a:t>• T-A-P-S: </a:t>
            </a:r>
            <a:r>
              <a:rPr sz="900">
                <a:solidFill>
                  <a:srgbClr val="94A3B8"/>
                </a:solidFill>
              </a:rPr>
              <a:t>Tenacity, Authority, Priori, Science.</a:t>
            </a:r>
          </a:p>
          <a:p>
            <a:r>
              <a:rPr b="1" sz="950">
                <a:solidFill>
                  <a:srgbClr val="F8FAFC"/>
                </a:solidFill>
              </a:rPr>
              <a:t>• D-U-R-C: </a:t>
            </a:r>
            <a:r>
              <a:rPr sz="900">
                <a:solidFill>
                  <a:srgbClr val="94A3B8"/>
                </a:solidFill>
              </a:rPr>
              <a:t>Debunk, Unrespectable, Relativize, Cosmopolitan.</a:t>
            </a:r>
          </a:p>
          <a:p>
            <a:r>
              <a:rPr b="1" sz="950">
                <a:solidFill>
                  <a:srgbClr val="F8FAFC"/>
                </a:solidFill>
              </a:rPr>
              <a:t>• 3 Paradigms: </a:t>
            </a:r>
            <a:r>
              <a:rPr sz="900">
                <a:solidFill>
                  <a:srgbClr val="94A3B8"/>
                </a:solidFill>
              </a:rPr>
              <a:t>Discovery (Laws) | Interpretive (Meaning) | Critical (Power).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</a:rPr>
              <a:t>FS 209C QUICK ANCHORS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• Signifier / Signified: </a:t>
            </a:r>
            <a:r>
              <a:rPr sz="900">
                <a:solidFill>
                  <a:srgbClr val="94A3B8"/>
                </a:solidFill>
              </a:rPr>
              <a:t>Physical food object / Cultural meaning.</a:t>
            </a:r>
          </a:p>
          <a:p>
            <a:r>
              <a:rPr b="1" sz="950">
                <a:solidFill>
                  <a:srgbClr val="F8FAFC"/>
                </a:solidFill>
              </a:rPr>
              <a:t>• Tampopo (1985): </a:t>
            </a:r>
            <a:r>
              <a:rPr sz="900">
                <a:solidFill>
                  <a:srgbClr val="94A3B8"/>
                </a:solidFill>
              </a:rPr>
              <a:t>Ramen Western; craft, sex, class, death.</a:t>
            </a:r>
          </a:p>
          <a:p>
            <a:r>
              <a:rPr b="1" sz="950">
                <a:solidFill>
                  <a:srgbClr val="F8FAFC"/>
                </a:solidFill>
              </a:rPr>
              <a:t>• 5 Tampopo Vignettes: </a:t>
            </a:r>
            <a:r>
              <a:rPr sz="900">
                <a:solidFill>
                  <a:srgbClr val="94A3B8"/>
                </a:solidFill>
              </a:rPr>
              <a:t>Shokunin, Gangster egg, Junior French, Spaghetti slurp, Mother fried rice.</a:t>
            </a:r>
          </a:p>
          <a:p>
            <a:r>
              <a:rPr b="1" sz="950">
                <a:solidFill>
                  <a:srgbClr val="F8FAFC"/>
                </a:solidFill>
              </a:rPr>
              <a:t>• Columbian Exchange: </a:t>
            </a:r>
            <a:r>
              <a:rPr sz="900">
                <a:solidFill>
                  <a:srgbClr val="94A3B8"/>
                </a:solidFill>
              </a:rPr>
              <a:t>Crosby 1972: Post-1492 global food transfer.</a:t>
            </a:r>
          </a:p>
          <a:p>
            <a:r>
              <a:rPr b="1" sz="950">
                <a:solidFill>
                  <a:srgbClr val="F8FAFC"/>
                </a:solidFill>
              </a:rPr>
              <a:t>• Cheung Authenticity: </a:t>
            </a:r>
            <a:r>
              <a:rPr sz="900">
                <a:solidFill>
                  <a:srgbClr val="94A3B8"/>
                </a:solidFill>
              </a:rPr>
              <a:t>Contested social claim; hybridity is creative.</a:t>
            </a:r>
          </a:p>
          <a:p>
            <a:r>
              <a:rPr b="1" sz="950">
                <a:solidFill>
                  <a:srgbClr val="F8FAFC"/>
                </a:solidFill>
              </a:rPr>
              <a:t>• Minari Metaphor: </a:t>
            </a:r>
            <a:r>
              <a:rPr sz="900">
                <a:solidFill>
                  <a:srgbClr val="94A3B8"/>
                </a:solidFill>
              </a:rPr>
              <a:t>Resilient ancestral water parsley vs. capitalist farm.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BBF24"/>
                </a:solidFill>
              </a:rPr>
              <a:t>KS 205 QUICK ANCHORS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• Medium != Genre: </a:t>
            </a:r>
            <a:r>
              <a:rPr sz="900">
                <a:solidFill>
                  <a:srgbClr val="94A3B8"/>
                </a:solidFill>
              </a:rPr>
              <a:t>Comics is an expressive medium.</a:t>
            </a:r>
          </a:p>
          <a:p>
            <a:r>
              <a:rPr b="1" sz="950">
                <a:solidFill>
                  <a:srgbClr val="F8FAFC"/>
                </a:solidFill>
              </a:rPr>
              <a:t>• McCloud Definition: </a:t>
            </a:r>
            <a:r>
              <a:rPr sz="900">
                <a:solidFill>
                  <a:srgbClr val="94A3B8"/>
                </a:solidFill>
              </a:rPr>
              <a:t>Juxtaposed sequential pictorial images.</a:t>
            </a:r>
          </a:p>
          <a:p>
            <a:r>
              <a:rPr b="1" sz="950">
                <a:solidFill>
                  <a:srgbClr val="F8FAFC"/>
                </a:solidFill>
              </a:rPr>
              <a:t>• Lessing Laocoön: </a:t>
            </a:r>
            <a:r>
              <a:rPr sz="900">
                <a:solidFill>
                  <a:srgbClr val="94A3B8"/>
                </a:solidFill>
              </a:rPr>
              <a:t>Painting=Space, Poetry=Time. Comics spatialize time!</a:t>
            </a:r>
          </a:p>
          <a:p>
            <a:r>
              <a:rPr b="1" sz="950">
                <a:solidFill>
                  <a:srgbClr val="F8FAFC"/>
                </a:solidFill>
              </a:rPr>
              <a:t>• Rodolphe Töpffer: </a:t>
            </a:r>
            <a:r>
              <a:rPr sz="900">
                <a:solidFill>
                  <a:srgbClr val="94A3B8"/>
                </a:solidFill>
              </a:rPr>
              <a:t>Father of comic strip (1833).</a:t>
            </a:r>
          </a:p>
          <a:p>
            <a:r>
              <a:rPr b="1" sz="950">
                <a:solidFill>
                  <a:srgbClr val="F8FAFC"/>
                </a:solidFill>
              </a:rPr>
              <a:t>• Yellow Kid (1895): </a:t>
            </a:r>
            <a:r>
              <a:rPr sz="900">
                <a:solidFill>
                  <a:srgbClr val="94A3B8"/>
                </a:solidFill>
              </a:rPr>
              <a:t>Outcault: newspaper color, balloons.</a:t>
            </a:r>
          </a:p>
          <a:p>
            <a:r>
              <a:rPr b="1" sz="950">
                <a:solidFill>
                  <a:srgbClr val="F8FAFC"/>
                </a:solidFill>
              </a:rPr>
              <a:t>• 6 Transitions: </a:t>
            </a:r>
            <a:r>
              <a:rPr sz="900">
                <a:solidFill>
                  <a:srgbClr val="94A3B8"/>
                </a:solidFill>
              </a:rPr>
              <a:t>Moment, Action, Subject, Scene, Aspect, Non-Sequitur.</a:t>
            </a:r>
          </a:p>
          <a:p>
            <a:r>
              <a:rPr b="1" sz="950">
                <a:solidFill>
                  <a:srgbClr val="F8FAFC"/>
                </a:solidFill>
              </a:rPr>
              <a:t>• LH3094 Exams: </a:t>
            </a:r>
            <a:r>
              <a:rPr sz="900">
                <a:solidFill>
                  <a:srgbClr val="94A3B8"/>
                </a:solidFill>
              </a:rPr>
              <a:t>Sat Oct 3 (8:30am) &amp; Fri Oct 30 (7pm).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WHITEBOARD SPEEDRUN TARGET: </a:t>
            </a:r>
            <a:r>
              <a:rPr sz="1050">
                <a:solidFill>
                  <a:srgbClr val="F8FAFC"/>
                </a:solidFill>
              </a:rPr>
              <a:t>FINAL BOSS RUN: Spend 3 minutes covering this screen and jotting down 1 item from each box from memory!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